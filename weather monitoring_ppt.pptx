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60" r:id="rId1"/>
  </p:sldMasterIdLst>
  <p:notesMasterIdLst>
    <p:notesMasterId r:id="rId2"/>
  </p:notesMasterIdLst>
  <p:sldIdLst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80" r:id="rId13"/>
    <p:sldId id="281" r:id="rId14"/>
    <p:sldId id="282" r:id="rId15"/>
    <p:sldId id="283" r:id="rId16"/>
  </p:sldIdLst>
  <p:sldSz type="screen16x9" cy="6858000" cx="12192000"/>
  <p:notesSz cx="6858000" cy="9144000"/>
  <p:defaultTextStyle>
    <a:defPPr>
      <a:defRPr lang="en-US"/>
    </a:defPPr>
    <a:lvl1pPr algn="l" defTabSz="914400" marL="0" rtl="0">
      <a:defRPr sz="1800">
        <a:solidFill>
          <a:schemeClr val="tx1"/>
        </a:solidFill>
        <a:latin typeface="+mn-lt"/>
        <a:ea typeface="+mn-ea"/>
        <a:cs typeface="+mn-cs"/>
      </a:defRPr>
    </a:lvl1pPr>
    <a:lvl2pPr algn="l" defTabSz="914400" marL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algn="l" defTabSz="914400" marL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algn="l" defTabSz="914400" marL="1371600" rtl="0">
      <a:defRPr sz="1800">
        <a:solidFill>
          <a:schemeClr val="tx1"/>
        </a:solidFill>
        <a:latin typeface="+mn-lt"/>
        <a:ea typeface="+mn-ea"/>
        <a:cs typeface="+mn-cs"/>
      </a:defRPr>
    </a:lvl4pPr>
    <a:lvl5pPr algn="l" defTabSz="914400" marL="1828800" rtl="0">
      <a:defRPr sz="1800">
        <a:solidFill>
          <a:schemeClr val="tx1"/>
        </a:solidFill>
        <a:latin typeface="+mn-lt"/>
        <a:ea typeface="+mn-ea"/>
        <a:cs typeface="+mn-cs"/>
      </a:defRPr>
    </a:lvl5pPr>
    <a:lvl6pPr algn="l" defTabSz="914400" marL="2286000" rtl="0">
      <a:defRPr sz="1800">
        <a:solidFill>
          <a:schemeClr val="tx1"/>
        </a:solidFill>
        <a:latin typeface="+mn-lt"/>
        <a:ea typeface="+mn-ea"/>
        <a:cs typeface="+mn-cs"/>
      </a:defRPr>
    </a:lvl6pPr>
    <a:lvl7pPr algn="l" defTabSz="914400" marL="2743200" rtl="0">
      <a:defRPr sz="1800">
        <a:solidFill>
          <a:schemeClr val="tx1"/>
        </a:solidFill>
        <a:latin typeface="+mn-lt"/>
        <a:ea typeface="+mn-ea"/>
        <a:cs typeface="+mn-cs"/>
      </a:defRPr>
    </a:lvl7pPr>
    <a:lvl8pPr algn="l" defTabSz="914400" marL="3200400" rtl="0">
      <a:defRPr sz="1800">
        <a:solidFill>
          <a:schemeClr val="tx1"/>
        </a:solidFill>
        <a:latin typeface="+mn-lt"/>
        <a:ea typeface="+mn-ea"/>
        <a:cs typeface="+mn-cs"/>
      </a:defRPr>
    </a:lvl8pPr>
    <a:lvl9pPr algn="l" defTabSz="914400" marL="36576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slideViewPr>
    <p:cSldViewPr snapToGrid="0">
      <p:cViewPr varScale="1">
        <p:scale>
          <a:sx n="78" d="100"/>
          <a:sy n="78" d="100"/>
        </p:scale>
        <p:origin x="878" y="77"/>
      </p:cViewPr>
      <p:guideLst>
        <p:guide pos="3840"/>
        <p:guide orient="horz" pos="2160"/>
      </p:guideLst>
    </p:cSldViewPr>
  </p:slide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87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72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3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/>
            </a:lvl1pPr>
          </a:lstStyle>
          <a:p/>
        </p:txBody>
      </p:sp>
      <p:sp>
        <p:nvSpPr>
          <p:cNvPr id="104873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/>
            </a:lvl1pPr>
          </a:lstStyle>
          <a:p/>
        </p:txBody>
      </p:sp>
      <p:sp>
        <p:nvSpPr>
          <p:cNvPr id="104873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/>
        </p:spPr>
        <p:txBody>
          <a:bodyPr anchor="ctr" bIns="45720" lIns="91440" rIns="91440" rtlCol="0" tIns="45720" vert="horz"/>
          <a:p/>
        </p:txBody>
      </p:sp>
      <p:sp>
        <p:nvSpPr>
          <p:cNvPr id="10487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/>
        </p:txBody>
      </p:sp>
      <p:sp>
        <p:nvSpPr>
          <p:cNvPr id="104873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/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marL="0">
      <a:defRPr sz="1200">
        <a:solidFill>
          <a:schemeClr val="tx1"/>
        </a:solidFill>
        <a:latin typeface="+mn-lt"/>
        <a:ea typeface="+mn-ea"/>
        <a:cs typeface="+mn-cs"/>
      </a:defRPr>
    </a:lvl1pPr>
    <a:lvl2pPr algn="l" defTabSz="914400" marL="457200">
      <a:defRPr sz="1200">
        <a:solidFill>
          <a:schemeClr val="tx1"/>
        </a:solidFill>
        <a:latin typeface="+mn-lt"/>
        <a:ea typeface="+mn-ea"/>
        <a:cs typeface="+mn-cs"/>
      </a:defRPr>
    </a:lvl2pPr>
    <a:lvl3pPr algn="l" defTabSz="914400" marL="914400">
      <a:defRPr sz="1200">
        <a:solidFill>
          <a:schemeClr val="tx1"/>
        </a:solidFill>
        <a:latin typeface="+mn-lt"/>
        <a:ea typeface="+mn-ea"/>
        <a:cs typeface="+mn-cs"/>
      </a:defRPr>
    </a:lvl3pPr>
    <a:lvl4pPr algn="l" defTabSz="914400" marL="1371600">
      <a:defRPr sz="1200">
        <a:solidFill>
          <a:schemeClr val="tx1"/>
        </a:solidFill>
        <a:latin typeface="+mn-lt"/>
        <a:ea typeface="+mn-ea"/>
        <a:cs typeface="+mn-cs"/>
      </a:defRPr>
    </a:lvl4pPr>
    <a:lvl5pPr algn="l" defTabSz="914400" marL="1828800">
      <a:defRPr sz="1200">
        <a:solidFill>
          <a:schemeClr val="tx1"/>
        </a:solidFill>
        <a:latin typeface="+mn-lt"/>
        <a:ea typeface="+mn-ea"/>
        <a:cs typeface="+mn-cs"/>
      </a:defRPr>
    </a:lvl5pPr>
    <a:lvl6pPr algn="l" defTabSz="914400" marL="2286000">
      <a:defRPr sz="1200">
        <a:solidFill>
          <a:schemeClr val="tx1"/>
        </a:solidFill>
        <a:latin typeface="+mn-lt"/>
        <a:ea typeface="+mn-ea"/>
        <a:cs typeface="+mn-cs"/>
      </a:defRPr>
    </a:lvl6pPr>
    <a:lvl7pPr algn="l" defTabSz="914400" marL="2743200">
      <a:defRPr sz="1200">
        <a:solidFill>
          <a:schemeClr val="tx1"/>
        </a:solidFill>
        <a:latin typeface="+mn-lt"/>
        <a:ea typeface="+mn-ea"/>
        <a:cs typeface="+mn-cs"/>
      </a:defRPr>
    </a:lvl7pPr>
    <a:lvl8pPr algn="l" defTabSz="914400" marL="3200400">
      <a:defRPr sz="1200">
        <a:solidFill>
          <a:schemeClr val="tx1"/>
        </a:solidFill>
        <a:latin typeface="+mn-lt"/>
        <a:ea typeface="+mn-ea"/>
        <a:cs typeface="+mn-cs"/>
      </a:defRPr>
    </a:lvl8pPr>
    <a:lvl9pPr algn="l" defTabSz="914400" marL="36576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27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89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88214EBE-5013-67E7-201E-6AF92711EDC3}" type="slidenum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35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99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C41602F8-D731-47E9-6DE1-A28B345C3AF8}" type="slidenum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38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1F753376-63C3-0AD8-83AF-6A89D50F2DDC}" type="slidenum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4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08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31EE25A4-F7F4-FFAB-E21F-DFA6B6757149}" type="slidenum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44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14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FF45D779-F88E-30FE-EA60-27B3F5E3BD1B}" type="slidenum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50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21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1A169CA1-C89D-48CE-6E8E-CDEC6FD9DF23}" type="slidenum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53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25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4CF16150-F468-FCAC-87FC-39AC405948A2}" type="slidenum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57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33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1F73869F-8378-34EF-3E69-38C0ACA74E13}" type="slidenum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60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40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139AB4B2-2451-020C-22BF-E16AD9C15CC9}" type="slidenum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63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48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8B8B7008-1063-A7F2-FAA0-20CA58E4833C}" type="slidenum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66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56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A6912324-8C32-3D8F-CD19-F0ED36B9045C}" type="slidenum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69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64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63F76B0B-503E-683C-8FBF-2D90919E858E}" type="slidenum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72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72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2EC57801-36AB-6538-07D4-1DD201AF9BE5}" type="slidenum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78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82" name="Slide Image Placeholder 1"/>
          <p:cNvSpPr>
            <a:spLocks noChangeAspect="1" noRot="1" noGrp="1"/>
          </p:cNvSpPr>
          <p:nvPr>
            <p:ph type="sldImg"/>
          </p:nvPr>
        </p:nvSpPr>
        <p:spPr bwMode="auto"/>
      </p:sp>
      <p:sp>
        <p:nvSpPr>
          <p:cNvPr id="104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p/>
        </p:txBody>
      </p:sp>
      <p:sp>
        <p:nvSpPr>
          <p:cNvPr id="104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p>
            <a:fld id="{AD7FECCC-5D9B-8F5C-DDF0-D2A71C7A4191}" type="slidenum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showMasterSp="1" type="title" userDrawn="1">
  <p:cSld name="Title Slide">
    <p:spTree>
      <p:nvGrpSpPr>
        <p:cNvPr id="24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showMasterSp="1" type="obj" userDrawn="1">
  <p:cSld name="Title and Content">
    <p:spTree>
      <p:nvGrpSpPr>
        <p:cNvPr id="32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endParaRPr lang="en-IN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showMasterSp="1" type="secHead" userDrawn="1">
  <p:cSld name="Section Header">
    <p:spTree>
      <p:nvGrpSpPr>
        <p:cNvPr id="82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70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7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endParaRPr lang="en-IN"/>
          </a:p>
        </p:txBody>
      </p:sp>
      <p:sp>
        <p:nvSpPr>
          <p:cNvPr id="10487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showMasterSp="1" type="twoObj" userDrawn="1">
  <p:cSld name="Two Content">
    <p:spTree>
      <p:nvGrpSpPr>
        <p:cNvPr id="83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706" name="Title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7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endParaRPr lang="en-IN"/>
          </a:p>
        </p:txBody>
      </p:sp>
      <p:sp>
        <p:nvSpPr>
          <p:cNvPr id="10487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showMasterSp="1" type="twoTxTwoObj" userDrawn="1">
  <p:cSld name="Comparison">
    <p:spTree>
      <p:nvGrpSpPr>
        <p:cNvPr id="84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71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71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endParaRPr lang="en-IN"/>
          </a:p>
        </p:txBody>
      </p:sp>
      <p:sp>
        <p:nvSpPr>
          <p:cNvPr id="104871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showMasterSp="1" type="titleOnly" userDrawn="1">
  <p:cSld name="Title Only">
    <p:spTree>
      <p:nvGrpSpPr>
        <p:cNvPr id="54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63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endParaRPr lang="en-IN"/>
          </a:p>
        </p:txBody>
      </p:sp>
      <p:sp>
        <p:nvSpPr>
          <p:cNvPr id="104863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showMasterSp="1" type="blank" userDrawn="1">
  <p:cSld name="Blank">
    <p:spTree>
      <p:nvGrpSpPr>
        <p:cNvPr id="85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72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72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endParaRPr lang="en-IN"/>
          </a:p>
        </p:txBody>
      </p:sp>
      <p:sp>
        <p:nvSpPr>
          <p:cNvPr id="104872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showMasterSp="1" type="objTx" userDrawn="1">
  <p:cSld name="Content with Caption">
    <p:spTree>
      <p:nvGrpSpPr>
        <p:cNvPr id="86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72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2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72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endParaRPr lang="en-IN"/>
          </a:p>
        </p:txBody>
      </p:sp>
      <p:sp>
        <p:nvSpPr>
          <p:cNvPr id="10487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showMasterSp="1" type="picTx" userDrawn="1">
  <p:cSld name="Picture with Caption">
    <p:spTree>
      <p:nvGrpSpPr>
        <p:cNvPr id="80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9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6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endParaRPr lang="en-IN"/>
          </a:p>
        </p:txBody>
      </p:sp>
      <p:sp>
        <p:nvSpPr>
          <p:cNvPr id="10486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showMasterSp="1" type="vertTx" userDrawn="1">
  <p:cSld name="Title and Vertical Text">
    <p:spTree>
      <p:nvGrpSpPr>
        <p:cNvPr id="8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96" name="Title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9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6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endParaRPr lang="en-IN"/>
          </a:p>
        </p:txBody>
      </p:sp>
      <p:sp>
        <p:nvSpPr>
          <p:cNvPr id="10487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" preserve="1" showMasterPhAnim="0" showMasterSp="1" type="vertTitleAndTx" userDrawn="1">
  <p:cSld name="Vertical Title and Text">
    <p:spTree>
      <p:nvGrpSpPr>
        <p:cNvPr id="79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8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p>
            <a:endParaRPr lang="en-IN"/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0">
  <p:cSld name="">
    <p:bg>
      <p:bgRef idx="1001">
        <a:schemeClr val="bg1"/>
      </p:bgRef>
    </p:bg>
    <p:spTree>
      <p:nvGrpSpPr>
        <p:cNvPr id="12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3455D-7749-4E54-9ACD-F8C13B44EE5A}" type="datetimeFigureOut">
              <a:rPr lang="en-IN"/>
              <a:t>11-09-2025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EF69B-AE8E-4AEB-915B-0BDDCCAC361C}" type="slidenum">
              <a:rPr lang="en-IN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indent="-228600" marL="2286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indent="-228600" marL="6858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indent="-228600" marL="11430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indent="-228600" marL="16002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indent="-228600" marL="2057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indent="-228600" marL="25146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indent="-228600" marL="29718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indent="-228600" marL="34290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indent="-228600" marL="38862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marL="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marL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marL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marL="13716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marL="18288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marL="22860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marL="2743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marL="3200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marL="36576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3.jpeg"/><Relationship Id="rId3" Type="http://schemas.openxmlformats.org/officeDocument/2006/relationships/image" Target="../media/image1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25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86" name="TextBox 3"/>
          <p:cNvSpPr txBox="1"/>
          <p:nvPr/>
        </p:nvSpPr>
        <p:spPr bwMode="auto">
          <a:xfrm>
            <a:off x="894735" y="216180"/>
            <a:ext cx="10648336" cy="38506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sz="2400" lang="en-US"/>
              <a:t>J.C. </a:t>
            </a:r>
            <a:r>
              <a:rPr b="1" sz="2200" lang="en-US"/>
              <a:t>BOSE</a:t>
            </a:r>
            <a:r>
              <a:rPr b="1" sz="2400" lang="en-US"/>
              <a:t> UNIVERSITY OF SCIENCE AND TECHNOLOGY ,YMCA , FARIDABAD</a:t>
            </a:r>
          </a:p>
          <a:p>
            <a:pPr algn="ctr"/>
            <a:r>
              <a:rPr sz="2000" lang="en-US"/>
              <a:t>PROJECT PRESENTATION</a:t>
            </a:r>
          </a:p>
          <a:p>
            <a:pPr algn="ctr"/>
            <a:r>
              <a:rPr sz="2000" lang="en-US"/>
              <a:t>ON</a:t>
            </a:r>
          </a:p>
          <a:p>
            <a:pPr algn="ctr"/>
            <a:endParaRPr b="1" sz="2000" lang="en-US"/>
          </a:p>
          <a:p>
            <a:pPr algn="ctr"/>
            <a:r>
              <a:rPr b="1" sz="2200" lang="en-US"/>
              <a:t>AI-DRIVEN PORTABLE WEATHER MONITORING AND PREDICTION SYSTEM</a:t>
            </a:r>
          </a:p>
          <a:p>
            <a:pPr algn="ctr"/>
            <a:endParaRPr b="1" sz="2200" lang="en-US"/>
          </a:p>
          <a:p>
            <a:pPr algn="ctr"/>
            <a:r>
              <a:rPr sz="2000" lang="en-US"/>
              <a:t>Submitted in fulfillment of requirement of the degree of</a:t>
            </a:r>
          </a:p>
          <a:p>
            <a:pPr algn="ctr"/>
            <a:endParaRPr sz="2000" lang="en-US"/>
          </a:p>
          <a:p>
            <a:pPr algn="ctr"/>
            <a:r>
              <a:rPr b="1" sz="2200" lang="en-US"/>
              <a:t>BACHELORS OF TECHNOLOGY </a:t>
            </a:r>
          </a:p>
          <a:p>
            <a:pPr algn="ctr"/>
            <a:r>
              <a:rPr sz="2000" lang="en-US"/>
              <a:t>ELECTRONICS ENGINEERING SPECIALIZATION IN IOT</a:t>
            </a:r>
          </a:p>
          <a:p>
            <a:pPr algn="ctr"/>
            <a:endParaRPr sz="2400" lang="en-US"/>
          </a:p>
          <a:p>
            <a:endParaRPr lang="en-IN"/>
          </a:p>
        </p:txBody>
      </p:sp>
      <p:sp>
        <p:nvSpPr>
          <p:cNvPr id="1048587" name="TextBox 5"/>
          <p:cNvSpPr txBox="1"/>
          <p:nvPr/>
        </p:nvSpPr>
        <p:spPr bwMode="auto">
          <a:xfrm>
            <a:off x="7747818" y="4495447"/>
            <a:ext cx="3795611" cy="1424940"/>
          </a:xfrm>
          <a:prstGeom prst="rect"/>
          <a:noFill/>
        </p:spPr>
        <p:txBody>
          <a:bodyPr rtlCol="0" wrap="square">
            <a:spAutoFit/>
          </a:bodyPr>
          <a:p>
            <a:r>
              <a:rPr lang="en-US"/>
              <a:t>Presented by:</a:t>
            </a:r>
          </a:p>
          <a:p>
            <a:endParaRPr lang="en-US"/>
          </a:p>
          <a:p>
            <a:r>
              <a:rPr lang="en-US"/>
              <a:t>Aadarsh Mandal    22001017001</a:t>
            </a:r>
          </a:p>
          <a:p>
            <a:r>
              <a:rPr lang="en-US"/>
              <a:t>Rohit Yadav            22001017050</a:t>
            </a:r>
          </a:p>
          <a:p>
            <a:r>
              <a:rPr lang="en-US"/>
              <a:t>Shivam Upadhyay 22001017058</a:t>
            </a:r>
            <a:endParaRPr lang="en-IN"/>
          </a:p>
        </p:txBody>
      </p:sp>
      <p:pic>
        <p:nvPicPr>
          <p:cNvPr id="2097152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99000"/>
          </a:blip>
          <a:stretch>
            <a:fillRect/>
          </a:stretch>
        </p:blipFill>
        <p:spPr bwMode="auto">
          <a:xfrm>
            <a:off x="5005848" y="3429000"/>
            <a:ext cx="2180304" cy="2180304"/>
          </a:xfrm>
          <a:prstGeom prst="rect"/>
        </p:spPr>
      </p:pic>
      <p:sp>
        <p:nvSpPr>
          <p:cNvPr id="1048588" name="TextBox 9"/>
          <p:cNvSpPr txBox="1"/>
          <p:nvPr/>
        </p:nvSpPr>
        <p:spPr bwMode="auto">
          <a:xfrm>
            <a:off x="894735" y="5049446"/>
            <a:ext cx="4063180" cy="1158239"/>
          </a:xfrm>
          <a:prstGeom prst="rect"/>
          <a:noFill/>
        </p:spPr>
        <p:txBody>
          <a:bodyPr rtlCol="0" wrap="square">
            <a:spAutoFit/>
          </a:bodyPr>
          <a:p>
            <a:r>
              <a:rPr lang="en-US"/>
              <a:t>Dr. Mukesh Kumar</a:t>
            </a:r>
          </a:p>
          <a:p>
            <a:r>
              <a:rPr lang="en-US"/>
              <a:t>( Project Mentor )</a:t>
            </a:r>
          </a:p>
          <a:p>
            <a:r>
              <a:rPr lang="en-US"/>
              <a:t>Department Of Electronics Engineering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33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r>
              <a:rPr b="1" lang="en-US"/>
              <a:t>Table Of Content</a:t>
            </a:r>
            <a:endParaRPr b="1" lang="en-IN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 bwMode="auto">
          <a:xfrm>
            <a:off x="838200" y="1690688"/>
            <a:ext cx="6801465" cy="4732900"/>
          </a:xfrm>
        </p:spPr>
        <p:txBody>
          <a:bodyPr>
            <a:normAutofit/>
          </a:bodyPr>
          <a:p>
            <a:r>
              <a:rPr sz="2200" lang="en-IN">
                <a:latin typeface="Arial"/>
                <a:cs typeface="Arial"/>
              </a:rPr>
              <a:t>Introduction </a:t>
            </a:r>
          </a:p>
          <a:p>
            <a:r>
              <a:rPr sz="2200" lang="en-IN">
                <a:latin typeface="Arial"/>
                <a:cs typeface="Arial"/>
              </a:rPr>
              <a:t>Problem Statement</a:t>
            </a:r>
          </a:p>
          <a:p>
            <a:pPr lvl="1"/>
            <a:r>
              <a:rPr sz="2200" lang="en-IN">
                <a:latin typeface="Arial"/>
                <a:cs typeface="Arial"/>
              </a:rPr>
              <a:t>Challenges</a:t>
            </a:r>
          </a:p>
          <a:p>
            <a:pPr lvl="1"/>
            <a:r>
              <a:rPr sz="2200" lang="en-IN">
                <a:latin typeface="Arial"/>
                <a:cs typeface="Arial"/>
              </a:rPr>
              <a:t>Impacts</a:t>
            </a:r>
          </a:p>
          <a:p>
            <a:r>
              <a:rPr sz="2200" lang="en-IN">
                <a:latin typeface="Arial"/>
                <a:cs typeface="Arial"/>
              </a:rPr>
              <a:t>Solution Overview</a:t>
            </a:r>
          </a:p>
          <a:p>
            <a:pPr lvl="1"/>
            <a:r>
              <a:rPr sz="2200" lang="en-IN">
                <a:latin typeface="Arial"/>
                <a:cs typeface="Arial"/>
              </a:rPr>
              <a:t>Approach</a:t>
            </a:r>
          </a:p>
          <a:p>
            <a:pPr lvl="1"/>
            <a:r>
              <a:rPr sz="2200" lang="en-IN">
                <a:latin typeface="Arial"/>
                <a:cs typeface="Arial"/>
              </a:rPr>
              <a:t>Target fields</a:t>
            </a:r>
          </a:p>
          <a:p>
            <a:r>
              <a:rPr sz="2200" lang="en-IN">
                <a:latin typeface="Arial"/>
                <a:cs typeface="Arial"/>
              </a:rPr>
              <a:t>Methodology</a:t>
            </a:r>
          </a:p>
          <a:p>
            <a:pPr lvl="1"/>
            <a:r>
              <a:rPr sz="2200" lang="en-IN">
                <a:latin typeface="Arial"/>
                <a:cs typeface="Arial"/>
              </a:rPr>
              <a:t>Flow diagram</a:t>
            </a:r>
          </a:p>
          <a:p>
            <a:pPr lvl="1"/>
            <a:r>
              <a:rPr sz="2200" lang="en-IN">
                <a:latin typeface="Arial"/>
                <a:cs typeface="Arial"/>
              </a:rPr>
              <a:t>Block diagram</a:t>
            </a:r>
          </a:p>
          <a:p>
            <a:pPr lvl="1"/>
            <a:r>
              <a:rPr sz="2200" lang="en-IN">
                <a:latin typeface="Arial"/>
                <a:cs typeface="Arial"/>
              </a:rPr>
              <a:t>Components</a:t>
            </a:r>
          </a:p>
          <a:p>
            <a:r>
              <a:rPr sz="2200" lang="en-IN">
                <a:latin typeface="Arial"/>
                <a:cs typeface="Arial"/>
              </a:rPr>
              <a:t>Challenges and Solutions</a:t>
            </a:r>
          </a:p>
          <a:p>
            <a:r>
              <a:rPr sz="2200" lang="en-IN">
                <a:latin typeface="Arial"/>
                <a:cs typeface="Arial"/>
              </a:rPr>
              <a:t>Conclusion </a:t>
            </a:r>
            <a:br>
              <a:rPr sz="2200" lang="en-IN">
                <a:latin typeface="Arial"/>
                <a:cs typeface="Arial"/>
              </a:rPr>
            </a:br>
            <a:endParaRPr sz="2200" lang="en-IN">
              <a:latin typeface="Arial"/>
              <a:cs typeface="Arial"/>
            </a:endParaRPr>
          </a:p>
          <a:p>
            <a:pPr lvl="1"/>
            <a:endParaRPr lang="en-IN"/>
          </a:p>
        </p:txBody>
      </p:sp>
      <p:pic>
        <p:nvPicPr>
          <p:cNvPr id="2097153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425314" y="905798"/>
            <a:ext cx="5046404" cy="5046404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36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54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8" y="905798"/>
            <a:ext cx="5046404" cy="5046404"/>
          </a:xfrm>
          <a:prstGeom prst="rect"/>
        </p:spPr>
      </p:pic>
      <p:sp>
        <p:nvSpPr>
          <p:cNvPr id="1048602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36523" y="523431"/>
            <a:ext cx="8807245" cy="6135369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indent="0" marL="0">
              <a:buNone/>
            </a:pPr>
            <a:r>
              <a:rPr b="1" sz="4000" lang="en-US">
                <a:latin typeface="+mj-lt"/>
              </a:rPr>
              <a:t>Introduction</a:t>
            </a:r>
          </a:p>
          <a:p>
            <a:pPr indent="0" marL="0">
              <a:buNone/>
            </a:pPr>
            <a:endParaRPr b="1" lang="en-US"/>
          </a:p>
          <a:p>
            <a:r>
              <a:rPr sz="1800" lang="en-US">
                <a:latin typeface="Arial"/>
                <a:cs typeface="Arial"/>
              </a:rPr>
              <a:t>AI-Based Portable Local Weather Monitoring System</a:t>
            </a:r>
          </a:p>
          <a:p>
            <a:r>
              <a:rPr sz="1800" lang="en-US">
                <a:latin typeface="Arial"/>
                <a:cs typeface="Arial"/>
              </a:rPr>
              <a:t>Provides real-time, hyperlocal weather intelligence</a:t>
            </a:r>
          </a:p>
          <a:p>
            <a:r>
              <a:rPr sz="1800" lang="en-US">
                <a:latin typeface="Arial"/>
                <a:cs typeface="Arial"/>
              </a:rPr>
              <a:t>Monitors: Temperature, Humidity, AQI, Wind Speed</a:t>
            </a:r>
          </a:p>
          <a:p>
            <a:r>
              <a:rPr sz="1800" lang="en-US">
                <a:latin typeface="Arial"/>
                <a:cs typeface="Arial"/>
              </a:rPr>
              <a:t>Uses LoRa communication for long-range, low-power data transfer</a:t>
            </a:r>
          </a:p>
          <a:p>
            <a:pPr indent="0" marL="0">
              <a:buNone/>
            </a:pPr>
            <a:endParaRPr sz="1800" lang="en-US"/>
          </a:p>
          <a:p>
            <a:pPr indent="0" marL="0">
              <a:buNone/>
            </a:pPr>
            <a:r>
              <a:rPr b="1" sz="2400" lang="en-US">
                <a:latin typeface="+mj-lt"/>
              </a:rPr>
              <a:t> </a:t>
            </a:r>
            <a:r>
              <a:rPr b="1" sz="3200" lang="en-US">
                <a:latin typeface="+mj-lt"/>
              </a:rPr>
              <a:t>Background</a:t>
            </a:r>
          </a:p>
          <a:p>
            <a:pPr indent="0" marL="0">
              <a:buNone/>
            </a:pPr>
            <a:endParaRPr b="1" lang="en-US"/>
          </a:p>
          <a:p>
            <a:r>
              <a:rPr sz="1800" lang="en-US">
                <a:latin typeface="Arial"/>
                <a:cs typeface="Arial"/>
              </a:rPr>
              <a:t>Traditional weather forecasts are broad and infrastructure-heavy</a:t>
            </a:r>
          </a:p>
          <a:p>
            <a:r>
              <a:rPr sz="1800" lang="en-US">
                <a:latin typeface="Arial"/>
                <a:cs typeface="Arial"/>
              </a:rPr>
              <a:t>Dependence on internet connectivity limits rural/remote use</a:t>
            </a:r>
          </a:p>
          <a:p>
            <a:r>
              <a:rPr sz="1800" lang="en-US">
                <a:latin typeface="Arial"/>
                <a:cs typeface="Arial"/>
              </a:rPr>
              <a:t>Lack of localized, real-time alerts in disaster-prone regions</a:t>
            </a:r>
          </a:p>
          <a:p>
            <a:r>
              <a:rPr sz="1800" lang="en-US">
                <a:latin typeface="Arial"/>
                <a:cs typeface="Arial"/>
              </a:rPr>
              <a:t>High cost restricts deployment of conventional weather stations</a:t>
            </a:r>
          </a:p>
          <a:p>
            <a:r>
              <a:rPr sz="1800" lang="en-US">
                <a:latin typeface="Arial"/>
                <a:cs typeface="Arial"/>
              </a:rPr>
              <a:t>Need for a portable, AI-driven, low-cost solution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39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55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8" y="905798"/>
            <a:ext cx="5046404" cy="5046404"/>
          </a:xfrm>
          <a:prstGeom prst="rect"/>
        </p:spPr>
      </p:pic>
      <p:sp>
        <p:nvSpPr>
          <p:cNvPr id="1048606" name="Content Placeholder 2"/>
          <p:cNvSpPr>
            <a:spLocks noGrp="1"/>
          </p:cNvSpPr>
          <p:nvPr>
            <p:ph idx="1"/>
          </p:nvPr>
        </p:nvSpPr>
        <p:spPr bwMode="auto">
          <a:xfrm>
            <a:off x="648927" y="766916"/>
            <a:ext cx="4729317" cy="5705014"/>
          </a:xfrm>
        </p:spPr>
        <p:txBody>
          <a:bodyPr>
            <a:noAutofit/>
          </a:bodyPr>
          <a:p>
            <a:pPr indent="0" marL="0">
              <a:buNone/>
            </a:pPr>
            <a:r>
              <a:rPr b="1" sz="4000" lang="en-US">
                <a:latin typeface="+mj-lt"/>
              </a:rPr>
              <a:t>Problem Statement</a:t>
            </a:r>
          </a:p>
          <a:p>
            <a:pPr indent="0" marL="0">
              <a:buNone/>
            </a:pPr>
            <a:endParaRPr b="1" sz="1200" lang="en-US"/>
          </a:p>
          <a:p>
            <a:pPr indent="0" marL="0">
              <a:buNone/>
            </a:pPr>
            <a:r>
              <a:rPr sz="1800" lang="en-US">
                <a:latin typeface="Arial"/>
                <a:cs typeface="Arial"/>
              </a:rPr>
              <a:t>Lack of localized, real-time, low-cost forecasts</a:t>
            </a:r>
            <a:br>
              <a:rPr sz="1800" lang="en-US">
                <a:latin typeface="Arial"/>
                <a:cs typeface="Arial"/>
              </a:rPr>
            </a:br>
            <a:endParaRPr sz="1800" lang="en-US">
              <a:latin typeface="Arial"/>
              <a:cs typeface="Arial"/>
            </a:endParaRPr>
          </a:p>
          <a:p>
            <a:pPr indent="0" marL="0">
              <a:buNone/>
            </a:pPr>
            <a:r>
              <a:rPr b="1" sz="2400" lang="en-US">
                <a:latin typeface="+mj-lt"/>
              </a:rPr>
              <a:t>  Challenges</a:t>
            </a:r>
            <a:br>
              <a:rPr b="1" sz="2400" lang="en-US">
                <a:latin typeface="+mj-lt"/>
              </a:rPr>
            </a:br>
            <a:endParaRPr b="1" sz="2400" lang="en-US">
              <a:latin typeface="+mj-lt"/>
            </a:endParaRPr>
          </a:p>
          <a:p>
            <a:r>
              <a:rPr sz="1800" lang="en-US">
                <a:latin typeface="Arial"/>
                <a:cs typeface="Arial"/>
              </a:rPr>
              <a:t>Broad, non-specific forecasts</a:t>
            </a:r>
            <a:br>
              <a:rPr sz="1800" lang="en-US">
                <a:latin typeface="Arial"/>
                <a:cs typeface="Arial"/>
              </a:rPr>
            </a:br>
            <a:endParaRPr sz="1800" lang="en-US">
              <a:latin typeface="Arial"/>
              <a:cs typeface="Arial"/>
            </a:endParaRPr>
          </a:p>
          <a:p>
            <a:r>
              <a:rPr sz="1800" lang="en-US">
                <a:latin typeface="Arial"/>
                <a:cs typeface="Arial"/>
              </a:rPr>
              <a:t>Dependence on internet connectivity</a:t>
            </a:r>
            <a:br>
              <a:rPr sz="1800" lang="en-US">
                <a:latin typeface="Arial"/>
                <a:cs typeface="Arial"/>
              </a:rPr>
            </a:br>
            <a:endParaRPr sz="1800" lang="en-US">
              <a:latin typeface="Arial"/>
              <a:cs typeface="Arial"/>
            </a:endParaRPr>
          </a:p>
          <a:p>
            <a:r>
              <a:rPr sz="1800" lang="en-US">
                <a:latin typeface="Arial"/>
                <a:cs typeface="Arial"/>
              </a:rPr>
              <a:t>High cost &amp; heavy infrastructure</a:t>
            </a:r>
            <a:br>
              <a:rPr sz="1800" lang="en-US">
                <a:latin typeface="Arial"/>
                <a:cs typeface="Arial"/>
              </a:rPr>
            </a:br>
            <a:endParaRPr sz="1800" lang="en-US">
              <a:latin typeface="Arial"/>
              <a:cs typeface="Arial"/>
            </a:endParaRPr>
          </a:p>
          <a:p>
            <a:r>
              <a:rPr sz="1800" lang="en-US">
                <a:latin typeface="Arial"/>
                <a:cs typeface="Arial"/>
              </a:rPr>
              <a:t>Limited real-time alerts</a:t>
            </a:r>
          </a:p>
          <a:p>
            <a:pPr indent="0" marL="0">
              <a:buNone/>
            </a:pPr>
            <a:endParaRPr sz="1800" lang="en-US"/>
          </a:p>
          <a:p>
            <a:pPr indent="0" marL="0">
              <a:buNone/>
            </a:pPr>
            <a:endParaRPr sz="1800" lang="en-IN"/>
          </a:p>
        </p:txBody>
      </p:sp>
      <p:sp>
        <p:nvSpPr>
          <p:cNvPr id="1048607" name="TextBox 4"/>
          <p:cNvSpPr txBox="1"/>
          <p:nvPr/>
        </p:nvSpPr>
        <p:spPr bwMode="auto">
          <a:xfrm>
            <a:off x="6813757" y="2480234"/>
            <a:ext cx="4306529" cy="2936241"/>
          </a:xfrm>
          <a:prstGeom prst="rect"/>
          <a:noFill/>
        </p:spPr>
        <p:txBody>
          <a:bodyPr rtlCol="0" wrap="square">
            <a:spAutoFit/>
          </a:bodyPr>
          <a:p>
            <a:r>
              <a:rPr b="1" sz="2400" lang="en-US">
                <a:latin typeface="+mj-lt"/>
              </a:rPr>
              <a:t> Impacts</a:t>
            </a:r>
            <a:br>
              <a:rPr b="1" sz="2400" lang="en-US">
                <a:latin typeface="+mj-lt"/>
              </a:rPr>
            </a:br>
            <a:endParaRPr b="1" sz="2400" lang="en-US">
              <a:latin typeface="+mj-lt"/>
            </a:endParaRPr>
          </a:p>
          <a:p>
            <a:pPr indent="-285750" marL="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Vulnerable rural &amp; remote communities</a:t>
            </a:r>
            <a:br>
              <a:rPr lang="en-US">
                <a:latin typeface="Arial"/>
                <a:cs typeface="Arial"/>
              </a:rPr>
            </a:br>
            <a:endParaRPr lang="en-US">
              <a:latin typeface="Arial"/>
              <a:cs typeface="Arial"/>
            </a:endParaRPr>
          </a:p>
          <a:p>
            <a:pPr indent="-285750" marL="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Poor disaster preparedness</a:t>
            </a:r>
            <a:br>
              <a:rPr lang="en-US">
                <a:latin typeface="Arial"/>
                <a:cs typeface="Arial"/>
              </a:rPr>
            </a:br>
            <a:endParaRPr lang="en-US">
              <a:latin typeface="Arial"/>
              <a:cs typeface="Arial"/>
            </a:endParaRPr>
          </a:p>
          <a:p>
            <a:pPr indent="-285750" marL="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Agricultural planning difficulties</a:t>
            </a:r>
            <a:br>
              <a:rPr lang="en-US">
                <a:latin typeface="Arial"/>
                <a:cs typeface="Arial"/>
              </a:rPr>
            </a:br>
            <a:endParaRPr lang="en-US">
              <a:latin typeface="Arial"/>
              <a:cs typeface="Arial"/>
            </a:endParaRPr>
          </a:p>
          <a:p>
            <a:pPr indent="-285750" marL="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Restricted large-scale deployment</a:t>
            </a:r>
            <a:endParaRPr lang="en-IN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42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56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8" y="1115314"/>
            <a:ext cx="5046404" cy="5046404"/>
          </a:xfrm>
          <a:prstGeom prst="rect"/>
        </p:spPr>
      </p:pic>
      <p:sp>
        <p:nvSpPr>
          <p:cNvPr id="1048611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p>
            <a:r>
              <a:rPr b="1" sz="4000" lang="en-US"/>
              <a:t>Solution Overview</a:t>
            </a:r>
            <a:endParaRPr b="1" sz="4000" lang="en-IN"/>
          </a:p>
        </p:txBody>
      </p:sp>
      <p:sp>
        <p:nvSpPr>
          <p:cNvPr id="1048612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838200" y="1978694"/>
            <a:ext cx="4589207" cy="3596642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b="1" cap="none" i="0" lang="en-US" strike="noStrike" u="none">
                <a:ln>
                  <a:noFill/>
                </a:ln>
                <a:solidFill>
                  <a:schemeClr val="tx1"/>
                </a:solidFill>
                <a:latin typeface="+mj-lt"/>
              </a:rPr>
              <a:t>Approach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cap="none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lang="en-US">
                <a:latin typeface="Arial"/>
              </a:rPr>
              <a:t>P</a:t>
            </a:r>
            <a:r>
              <a:rPr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ortable, AI-enabled weather monitoring nodes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Collect data on temperature, humidity, AQI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Use LoRa communication ,low-power data transfer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AI algorithms for real-time prediction &amp; localized alerts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Compact, low-cost, and scalable design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13" name="TextBox 9"/>
          <p:cNvSpPr txBox="1"/>
          <p:nvPr/>
        </p:nvSpPr>
        <p:spPr bwMode="auto">
          <a:xfrm>
            <a:off x="6764596" y="1914967"/>
            <a:ext cx="4589204" cy="3329940"/>
          </a:xfrm>
          <a:prstGeom prst="rect"/>
          <a:noFill/>
        </p:spPr>
        <p:txBody>
          <a:bodyPr rtlCol="0" wrap="square">
            <a:spAutoFit/>
          </a:bodyPr>
          <a:p>
            <a:r>
              <a:rPr sz="2800" lang="en-US">
                <a:latin typeface="Arial"/>
                <a:cs typeface="Arial"/>
              </a:rPr>
              <a:t>     </a:t>
            </a:r>
            <a:r>
              <a:rPr b="1" sz="2800" lang="en-US">
                <a:latin typeface="+mj-lt"/>
                <a:cs typeface="Arial"/>
              </a:rPr>
              <a:t>Target  Fields</a:t>
            </a:r>
          </a:p>
          <a:p>
            <a:endParaRPr b="1" sz="2800" lang="en-US">
              <a:latin typeface="+mj-lt"/>
            </a:endParaRPr>
          </a:p>
          <a:p>
            <a:pPr indent="-285750" lvl="1" marL="742950">
              <a:buFont typeface="Arial"/>
              <a:buChar char="•"/>
            </a:pPr>
            <a:r>
              <a:rPr b="1" lang="en-US">
                <a:latin typeface="Arial"/>
                <a:cs typeface="Arial"/>
              </a:rPr>
              <a:t>Agriculture</a:t>
            </a:r>
            <a:r>
              <a:rPr lang="en-US">
                <a:latin typeface="Arial"/>
                <a:cs typeface="Arial"/>
              </a:rPr>
              <a:t> – crop planning &amp; protection</a:t>
            </a:r>
          </a:p>
          <a:p>
            <a:pPr indent="-285750" lvl="1" marL="742950">
              <a:buFont typeface="Arial"/>
              <a:buChar char="•"/>
            </a:pPr>
            <a:r>
              <a:rPr b="1" lang="en-US">
                <a:latin typeface="Arial"/>
                <a:cs typeface="Arial"/>
              </a:rPr>
              <a:t>Disaster management </a:t>
            </a:r>
            <a:r>
              <a:rPr lang="en-US">
                <a:latin typeface="Arial"/>
                <a:cs typeface="Arial"/>
              </a:rPr>
              <a:t>– early warnings in prone areas</a:t>
            </a:r>
          </a:p>
          <a:p>
            <a:pPr indent="-285750" lvl="1" marL="742950">
              <a:buFont typeface="Arial"/>
              <a:buChar char="•"/>
            </a:pPr>
            <a:r>
              <a:rPr b="1" lang="en-US">
                <a:latin typeface="Arial"/>
                <a:cs typeface="Arial"/>
              </a:rPr>
              <a:t>Rural &amp; remote communities</a:t>
            </a:r>
            <a:r>
              <a:rPr lang="en-US">
                <a:latin typeface="Arial"/>
                <a:cs typeface="Arial"/>
              </a:rPr>
              <a:t> – independent weather monitoring</a:t>
            </a:r>
          </a:p>
          <a:p>
            <a:pPr indent="-285750" lvl="1" marL="742950">
              <a:buFont typeface="Arial"/>
              <a:buChar char="•"/>
            </a:pPr>
            <a:r>
              <a:rPr b="1" lang="en-US">
                <a:latin typeface="Arial"/>
                <a:cs typeface="Arial"/>
              </a:rPr>
              <a:t>Temporary deployments</a:t>
            </a:r>
            <a:r>
              <a:rPr lang="en-US">
                <a:latin typeface="Arial"/>
                <a:cs typeface="Arial"/>
              </a:rPr>
              <a:t> – balloon-based or field operations</a:t>
            </a:r>
          </a:p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45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57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8" y="1115314"/>
            <a:ext cx="5046404" cy="5046404"/>
          </a:xfrm>
          <a:prstGeom prst="rect"/>
        </p:spPr>
      </p:pic>
      <p:sp>
        <p:nvSpPr>
          <p:cNvPr id="1048617" name="TextBox 5"/>
          <p:cNvSpPr txBox="1"/>
          <p:nvPr/>
        </p:nvSpPr>
        <p:spPr bwMode="auto">
          <a:xfrm>
            <a:off x="933836" y="419031"/>
            <a:ext cx="3573780" cy="751840"/>
          </a:xfrm>
          <a:prstGeom prst="rect"/>
          <a:noFill/>
        </p:spPr>
        <p:txBody>
          <a:bodyPr rtlCol="0" wrap="none">
            <a:spAutoFit/>
          </a:bodyPr>
          <a:p>
            <a:r>
              <a:rPr b="1" sz="4400" lang="en-IN">
                <a:latin typeface="+mj-lt"/>
              </a:rPr>
              <a:t>Methodology </a:t>
            </a:r>
          </a:p>
        </p:txBody>
      </p:sp>
      <p:pic>
        <p:nvPicPr>
          <p:cNvPr id="2097158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 l="0" t="590" r="0" b="0"/>
          <a:stretch>
            <a:fillRect/>
          </a:stretch>
        </p:blipFill>
        <p:spPr bwMode="auto">
          <a:xfrm>
            <a:off x="626754" y="1432560"/>
            <a:ext cx="3603625" cy="5425440"/>
          </a:xfrm>
          <a:prstGeom prst="rect"/>
          <a:ln>
            <a:noFill/>
          </a:ln>
        </p:spPr>
      </p:pic>
      <p:grpSp>
        <p:nvGrpSpPr>
          <p:cNvPr id="46" name="Group 19"/>
          <p:cNvGrpSpPr/>
          <p:nvPr/>
        </p:nvGrpSpPr>
        <p:grpSpPr bwMode="auto">
          <a:xfrm>
            <a:off x="4817892" y="1580500"/>
            <a:ext cx="6835703" cy="4355691"/>
            <a:chOff x="4817892" y="1580500"/>
            <a:chExt cx="6835703" cy="4355691"/>
          </a:xfrm>
        </p:grpSpPr>
        <p:grpSp>
          <p:nvGrpSpPr>
            <p:cNvPr id="47" name="Group 16"/>
            <p:cNvGrpSpPr/>
            <p:nvPr/>
          </p:nvGrpSpPr>
          <p:grpSpPr bwMode="auto">
            <a:xfrm>
              <a:off x="4817892" y="1580500"/>
              <a:ext cx="6835703" cy="4355691"/>
              <a:chOff x="5633970" y="803752"/>
              <a:chExt cx="6835703" cy="4355691"/>
            </a:xfrm>
          </p:grpSpPr>
          <p:grpSp>
            <p:nvGrpSpPr>
              <p:cNvPr id="48" name="Group 2"/>
              <p:cNvGrpSpPr/>
              <p:nvPr/>
            </p:nvGrpSpPr>
            <p:grpSpPr bwMode="auto">
              <a:xfrm>
                <a:off x="5633970" y="803752"/>
                <a:ext cx="6835703" cy="4355691"/>
                <a:chOff x="973392" y="1472379"/>
                <a:chExt cx="6087397" cy="4058265"/>
              </a:xfrm>
            </p:grpSpPr>
            <p:pic>
              <p:nvPicPr>
                <p:cNvPr id="2097159" name="Picture 2" descr="Generated image"/>
                <p:cNvPicPr>
                  <a:picLocks noChangeAspect="1" noChangeArrowheads="1"/>
                </p:cNvPicPr>
                <p:nvPr/>
              </p:nvPicPr>
              <p:blipFill>
                <a:blip xmlns:r="http://schemas.openxmlformats.org/officeDocument/2006/relationships" r:embed="rId3"/>
                <a:stretch>
                  <a:fillRect/>
                </a:stretch>
              </p:blipFill>
              <p:spPr bwMode="auto">
                <a:xfrm>
                  <a:off x="973392" y="1472379"/>
                  <a:ext cx="6087397" cy="4058265"/>
                </a:xfrm>
                <a:prstGeom prst="rect"/>
                <a:noFill/>
              </p:spPr>
            </p:pic>
            <p:sp>
              <p:nvSpPr>
                <p:cNvPr id="1048618" name="Cube 1"/>
                <p:cNvSpPr/>
                <p:nvPr/>
              </p:nvSpPr>
              <p:spPr bwMode="auto">
                <a:xfrm>
                  <a:off x="2241755" y="3501511"/>
                  <a:ext cx="570271" cy="510050"/>
                </a:xfrm>
                <a:prstGeom prst="cube">
                  <a:avLst>
                    <a:gd name="adj" fmla="val 25000"/>
                  </a:avLst>
                </a:prstGeom>
              </p:spPr>
              <p:style>
                <a:lnRef idx="3">
                  <a:schemeClr val="lt1"/>
                </a:lnRef>
                <a:fillRef idx="1">
                  <a:schemeClr val="dk1"/>
                </a:fillRef>
                <a:effectRef idx="1">
                  <a:schemeClr val="dk1"/>
                </a:effectRef>
                <a:fontRef idx="minor">
                  <a:schemeClr val="lt1"/>
                </a:fontRef>
              </p:style>
              <p:txBody>
                <a:bodyPr anchor="ctr" rtlCol="0"/>
                <a:p>
                  <a:pPr algn="ctr"/>
                  <a:endParaRPr lang="en-IN">
                    <a:ln w="0"/>
                    <a:gradFill>
                      <a:gsLst>
                        <a:gs pos="21000">
                          <a:srgbClr val="53575C"/>
                        </a:gs>
                        <a:gs pos="88000">
                          <a:srgbClr val="C5C7CA"/>
                        </a:gs>
                      </a:gsLst>
                      <a:lin ang="5400000" scaled="1"/>
                    </a:gradFill>
                  </a:endParaRPr>
                </a:p>
              </p:txBody>
            </p:sp>
          </p:grpSp>
          <p:pic>
            <p:nvPicPr>
              <p:cNvPr id="2097160" name="Graphic 11" descr="Smart Phone with solid fill"/>
              <p:cNvPicPr>
                <a:picLocks noChangeAspect="1"/>
              </p:cNvPicPr>
              <p:nvPr/>
            </p:nvPicPr>
            <p:blipFill>
              <a:blip xmlns:r="http://schemas.openxmlformats.org/officeDocument/2006/relationships" r:embed="rId4"/>
              <a:stretch>
                <a:fillRect/>
              </a:stretch>
            </p:blipFill>
            <p:spPr bwMode="auto">
              <a:xfrm>
                <a:off x="10732029" y="3696928"/>
                <a:ext cx="833215" cy="833215"/>
              </a:xfrm>
              <a:prstGeom prst="rect"/>
            </p:spPr>
          </p:pic>
        </p:grpSp>
        <p:sp>
          <p:nvSpPr>
            <p:cNvPr id="1048619" name="Rectangle: Rounded Corners 17"/>
            <p:cNvSpPr/>
            <p:nvPr/>
          </p:nvSpPr>
          <p:spPr bwMode="auto">
            <a:xfrm>
              <a:off x="5712542" y="4385187"/>
              <a:ext cx="1170002" cy="265471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sz="1400" lang="en-IN"/>
                <a:t>Sensor node </a:t>
              </a:r>
            </a:p>
          </p:txBody>
        </p:sp>
        <p:sp>
          <p:nvSpPr>
            <p:cNvPr id="1048620" name="Rectangle: Rounded Corners 18"/>
            <p:cNvSpPr/>
            <p:nvPr/>
          </p:nvSpPr>
          <p:spPr bwMode="auto">
            <a:xfrm>
              <a:off x="8259097" y="5584723"/>
              <a:ext cx="1995948" cy="255638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sz="1400" lang="en-IN"/>
                <a:t>Receiver Base Station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5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61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8" y="1115314"/>
            <a:ext cx="5046404" cy="5046404"/>
          </a:xfrm>
          <a:prstGeom prst="rect"/>
        </p:spPr>
      </p:pic>
      <p:sp>
        <p:nvSpPr>
          <p:cNvPr id="1048624" name="Title 1"/>
          <p:cNvSpPr>
            <a:spLocks noGrp="1"/>
          </p:cNvSpPr>
          <p:nvPr>
            <p:ph type="title"/>
          </p:nvPr>
        </p:nvSpPr>
        <p:spPr bwMode="auto">
          <a:xfrm>
            <a:off x="838200" y="570519"/>
            <a:ext cx="10515600" cy="1325563"/>
          </a:xfrm>
        </p:spPr>
        <p:txBody>
          <a:bodyPr/>
          <a:p>
            <a:r>
              <a:rPr b="1" lang="en-IN"/>
              <a:t>Block Diagram </a:t>
            </a:r>
          </a:p>
        </p:txBody>
      </p:sp>
      <p:pic>
        <p:nvPicPr>
          <p:cNvPr id="2097162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 bwMode="auto">
          <a:xfrm>
            <a:off x="728787" y="2271251"/>
            <a:ext cx="10781963" cy="2949677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55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r>
              <a:rPr b="1"/>
              <a:t>Block diagram</a:t>
            </a:r>
            <a:endParaRPr b="1"/>
          </a:p>
        </p:txBody>
      </p:sp>
      <p:pic>
        <p:nvPicPr>
          <p:cNvPr id="2097163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7" y="1115313"/>
            <a:ext cx="5046403" cy="5046403"/>
          </a:xfrm>
          <a:prstGeom prst="rect"/>
        </p:spPr>
      </p:pic>
      <p:pic>
        <p:nvPicPr>
          <p:cNvPr id="2097164" name="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 bwMode="auto">
          <a:xfrm flipH="0" flipV="0">
            <a:off x="1507136" y="1476374"/>
            <a:ext cx="8833669" cy="4829072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58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65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8" y="1115314"/>
            <a:ext cx="5046404" cy="5046404"/>
          </a:xfrm>
          <a:prstGeom prst="rect"/>
        </p:spPr>
      </p:pic>
      <p:sp>
        <p:nvSpPr>
          <p:cNvPr id="1048636" name="Title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r>
              <a:rPr b="1" lang="en-IN"/>
              <a:t>Components</a:t>
            </a:r>
          </a:p>
        </p:txBody>
      </p:sp>
      <p:sp>
        <p:nvSpPr>
          <p:cNvPr id="1048637" name="Rectangle 4"/>
          <p:cNvSpPr>
            <a:spLocks noChangeArrowheads="1"/>
          </p:cNvSpPr>
          <p:nvPr/>
        </p:nvSpPr>
        <p:spPr bwMode="auto">
          <a:xfrm>
            <a:off x="0" y="-312419"/>
            <a:ext cx="7769741" cy="624838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ESP32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Wi-Fi + Bluetooth-enabled microcontroller, low power, ideal for IoT.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38" name="Rectangle 5"/>
          <p:cNvSpPr>
            <a:spLocks noChangeArrowheads="1"/>
          </p:cNvSpPr>
          <p:nvPr/>
        </p:nvSpPr>
        <p:spPr bwMode="auto">
          <a:xfrm>
            <a:off x="662776" y="1942836"/>
            <a:ext cx="4390103" cy="14249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ESP32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Wi-Fi + Bluetooth-enabled microcontroller, low power, ideal for IoT.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US"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2097166" name="Picture 1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 bwMode="auto">
          <a:xfrm>
            <a:off x="1848139" y="3148896"/>
            <a:ext cx="1868455" cy="2811413"/>
          </a:xfrm>
          <a:prstGeom prst="rect"/>
        </p:spPr>
      </p:pic>
      <p:sp>
        <p:nvSpPr>
          <p:cNvPr id="1048639" name="Rectangle 6"/>
          <p:cNvSpPr>
            <a:spLocks noChangeArrowheads="1"/>
          </p:cNvSpPr>
          <p:nvPr/>
        </p:nvSpPr>
        <p:spPr bwMode="auto">
          <a:xfrm rot="10800000" flipV="1">
            <a:off x="6475172" y="1937224"/>
            <a:ext cx="5276760" cy="89154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BME280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Bosch sensor measuring temperature, humidity, and pressure.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2097167" name="Picture 19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rcRect l="0" t="26173" r="0" b="24444"/>
          <a:stretch>
            <a:fillRect/>
          </a:stretch>
        </p:blipFill>
        <p:spPr bwMode="auto">
          <a:xfrm>
            <a:off x="7094403" y="3274142"/>
            <a:ext cx="4245876" cy="2096729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6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68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8" y="1115314"/>
            <a:ext cx="5046404" cy="5046404"/>
          </a:xfrm>
          <a:prstGeom prst="rect"/>
        </p:spPr>
      </p:pic>
      <p:sp>
        <p:nvSpPr>
          <p:cNvPr id="1048643" name="Title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r>
              <a:rPr b="1" lang="en-IN"/>
              <a:t>Components</a:t>
            </a:r>
          </a:p>
        </p:txBody>
      </p:sp>
      <p:sp>
        <p:nvSpPr>
          <p:cNvPr id="1048644" name="Rectangle 4"/>
          <p:cNvSpPr>
            <a:spLocks noChangeArrowheads="1"/>
          </p:cNvSpPr>
          <p:nvPr/>
        </p:nvSpPr>
        <p:spPr bwMode="auto">
          <a:xfrm>
            <a:off x="0" y="-312419"/>
            <a:ext cx="7769741" cy="624838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ESP32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Wi-Fi + Bluetooth-enabled microcontroller, low power, ideal for IoT.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45" name="Rectangle 5"/>
          <p:cNvSpPr>
            <a:spLocks noChangeArrowheads="1"/>
          </p:cNvSpPr>
          <p:nvPr/>
        </p:nvSpPr>
        <p:spPr bwMode="auto">
          <a:xfrm rot="10800000">
            <a:off x="1214438" y="4101439"/>
            <a:ext cx="1900059" cy="8915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US"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46" name="Rectangle 1"/>
          <p:cNvSpPr>
            <a:spLocks noChangeArrowheads="1"/>
          </p:cNvSpPr>
          <p:nvPr/>
        </p:nvSpPr>
        <p:spPr bwMode="auto">
          <a:xfrm rot="10800000" flipV="1">
            <a:off x="704061" y="1943550"/>
            <a:ext cx="5283599" cy="91476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rylr998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module - LoRa transceiver for long-range, low-power wireless communication.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47" name="Rectangle 2"/>
          <p:cNvSpPr>
            <a:spLocks noChangeArrowheads="1"/>
          </p:cNvSpPr>
          <p:nvPr/>
        </p:nvSpPr>
        <p:spPr bwMode="auto">
          <a:xfrm rot="10800000" flipV="1">
            <a:off x="6564148" y="1951741"/>
            <a:ext cx="5627852" cy="8915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Raspberry Pi Zero 2W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Compact, low-cost computer with Wi-Fi &amp; Bluetooth.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2097169" name="Picture 6" descr="Single Board Computer - Raspberry Pi ...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 bwMode="auto">
          <a:xfrm>
            <a:off x="7020232" y="3178028"/>
            <a:ext cx="3705490" cy="2691830"/>
          </a:xfrm>
          <a:prstGeom prst="rect"/>
          <a:noFill/>
          <a:ln>
            <a:noFill/>
          </a:ln>
        </p:spPr>
      </p:pic>
      <p:pic>
        <p:nvPicPr>
          <p:cNvPr id="2097170" name="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 bwMode="auto">
          <a:xfrm flipH="0" flipV="0">
            <a:off x="1121491" y="2719233"/>
            <a:ext cx="4149556" cy="3633481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64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71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8" y="1115314"/>
            <a:ext cx="5046404" cy="5046404"/>
          </a:xfrm>
          <a:prstGeom prst="rect"/>
        </p:spPr>
      </p:pic>
      <p:sp>
        <p:nvSpPr>
          <p:cNvPr id="1048651" name="Title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r>
              <a:rPr b="1" lang="en-IN"/>
              <a:t>Components</a:t>
            </a:r>
          </a:p>
        </p:txBody>
      </p:sp>
      <p:sp>
        <p:nvSpPr>
          <p:cNvPr id="1048652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ESP32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Wi-Fi + Bluetooth-enabled microcontroller, low power, ideal for IoT.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53" name="Rectangle 5"/>
          <p:cNvSpPr>
            <a:spLocks noChangeArrowheads="1"/>
          </p:cNvSpPr>
          <p:nvPr/>
        </p:nvSpPr>
        <p:spPr bwMode="auto">
          <a:xfrm rot="10800000">
            <a:off x="1214438" y="4085544"/>
            <a:ext cx="1900059" cy="92333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US"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54" name="Rectangle 1"/>
          <p:cNvSpPr>
            <a:spLocks noChangeArrowheads="1"/>
          </p:cNvSpPr>
          <p:nvPr/>
        </p:nvSpPr>
        <p:spPr bwMode="auto">
          <a:xfrm>
            <a:off x="658890" y="1690688"/>
            <a:ext cx="4911213" cy="92333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MQ135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Gas sensor for detecting air quality (CO₂, NH₃, smoke, etc.).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2097172" name="Picture 8" descr="Air Quality/Gas Detector Sensor Module ...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 l="0" t="20141" r="0" b="17668"/>
          <a:stretch>
            <a:fillRect/>
          </a:stretch>
        </p:blipFill>
        <p:spPr bwMode="auto">
          <a:xfrm>
            <a:off x="1214437" y="3313019"/>
            <a:ext cx="3407758" cy="2149697"/>
          </a:xfrm>
          <a:prstGeom prst="rect"/>
          <a:noFill/>
          <a:ln>
            <a:noFill/>
          </a:ln>
        </p:spPr>
      </p:pic>
      <p:sp>
        <p:nvSpPr>
          <p:cNvPr id="1048655" name="Rectangle 2"/>
          <p:cNvSpPr>
            <a:spLocks noChangeArrowheads="1"/>
          </p:cNvSpPr>
          <p:nvPr/>
        </p:nvSpPr>
        <p:spPr bwMode="auto">
          <a:xfrm rot="10800000" flipV="1">
            <a:off x="6695145" y="1690688"/>
            <a:ext cx="4355664" cy="92333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LDR Module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Light-dependent resistor, detects light intensity.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2097173" name="Picture 10" descr="LM393 Photosensitive Light-Dependent ...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rcRect l="0" t="11032" r="0" b="12099"/>
          <a:stretch>
            <a:fillRect/>
          </a:stretch>
        </p:blipFill>
        <p:spPr bwMode="auto">
          <a:xfrm>
            <a:off x="7197213" y="3077132"/>
            <a:ext cx="3263204" cy="2508370"/>
          </a:xfrm>
          <a:prstGeom prst="rect"/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67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74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8" y="1115314"/>
            <a:ext cx="5046404" cy="5046404"/>
          </a:xfrm>
          <a:prstGeom prst="rect"/>
        </p:spPr>
      </p:pic>
      <p:sp>
        <p:nvSpPr>
          <p:cNvPr id="1048659" name="Title 1"/>
          <p:cNvSpPr>
            <a:spLocks noGrp="1"/>
          </p:cNvSpPr>
          <p:nvPr>
            <p:ph type="title"/>
          </p:nvPr>
        </p:nvSpPr>
        <p:spPr bwMode="auto"/>
        <p:txBody>
          <a:bodyPr/>
          <a:p>
            <a:r>
              <a:rPr b="1" lang="en-IN"/>
              <a:t>Components</a:t>
            </a:r>
          </a:p>
        </p:txBody>
      </p:sp>
      <p:sp>
        <p:nvSpPr>
          <p:cNvPr id="1048660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ESP32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Wi-Fi + Bluetooth-enabled microcontroller, low power, ideal for IoT.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61" name="Rectangle 5"/>
          <p:cNvSpPr>
            <a:spLocks noChangeArrowheads="1"/>
          </p:cNvSpPr>
          <p:nvPr/>
        </p:nvSpPr>
        <p:spPr bwMode="auto">
          <a:xfrm rot="10800000">
            <a:off x="1214438" y="4085544"/>
            <a:ext cx="1900059" cy="92333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US"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62" name="Rectangle 2"/>
          <p:cNvSpPr>
            <a:spLocks noChangeArrowheads="1"/>
          </p:cNvSpPr>
          <p:nvPr/>
        </p:nvSpPr>
        <p:spPr bwMode="auto">
          <a:xfrm rot="10800000" flipV="1">
            <a:off x="6822963" y="1690688"/>
            <a:ext cx="4641449" cy="92333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>
              <a:spcBef>
                <a:spcPts val="0"/>
              </a:spcBef>
              <a:spcAft>
                <a:spcPts val="0"/>
              </a:spcAft>
            </a:pPr>
            <a:r>
              <a:rPr b="1" lang="en-US"/>
              <a:t>MIT App Inventor</a:t>
            </a:r>
            <a:r>
              <a:rPr lang="en-US"/>
              <a:t> – Visual tool to build Android apps via drag-and-drop blocks.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63" name="Rectangle 1"/>
          <p:cNvSpPr>
            <a:spLocks noChangeArrowheads="1"/>
          </p:cNvSpPr>
          <p:nvPr/>
        </p:nvSpPr>
        <p:spPr bwMode="auto">
          <a:xfrm rot="10800000" flipV="1">
            <a:off x="591295" y="1690688"/>
            <a:ext cx="5046404" cy="92333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Solar Panel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Converts sunlight into electricity using photovoltaic cells.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2097175" name="Picture 3" descr="Probots Solaris Solar Panel for DIY ...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 bwMode="auto">
          <a:xfrm>
            <a:off x="1424424" y="2868019"/>
            <a:ext cx="2874667" cy="2874667"/>
          </a:xfrm>
          <a:prstGeom prst="rect"/>
          <a:noFill/>
        </p:spPr>
      </p:pic>
      <p:pic>
        <p:nvPicPr>
          <p:cNvPr id="2097176" name="Picture 5" descr="MIT App Inventor - Wikipedia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 bwMode="auto">
          <a:xfrm>
            <a:off x="6928325" y="3173726"/>
            <a:ext cx="4298356" cy="2715797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70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77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8" y="1115314"/>
            <a:ext cx="5046404" cy="5046404"/>
          </a:xfrm>
          <a:prstGeom prst="rect"/>
        </p:spPr>
      </p:pic>
      <p:sp>
        <p:nvSpPr>
          <p:cNvPr id="1048667" name="Title 1"/>
          <p:cNvSpPr>
            <a:spLocks noGrp="1"/>
          </p:cNvSpPr>
          <p:nvPr>
            <p:ph type="title"/>
          </p:nvPr>
        </p:nvSpPr>
        <p:spPr bwMode="auto">
          <a:xfrm>
            <a:off x="591294" y="374713"/>
            <a:ext cx="10515600" cy="1325563"/>
          </a:xfrm>
        </p:spPr>
        <p:txBody>
          <a:bodyPr/>
          <a:p>
            <a:r>
              <a:rPr b="1" lang="en-IN"/>
              <a:t>Challenges &amp; Solutions</a:t>
            </a:r>
          </a:p>
        </p:txBody>
      </p:sp>
      <p:sp>
        <p:nvSpPr>
          <p:cNvPr id="104866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ESP32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Wi-Fi + Bluetooth-enabled microcontroller, low power, ideal for IoT.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69" name="Rectangle 5"/>
          <p:cNvSpPr>
            <a:spLocks noChangeArrowheads="1"/>
          </p:cNvSpPr>
          <p:nvPr/>
        </p:nvSpPr>
        <p:spPr bwMode="auto">
          <a:xfrm rot="10800000">
            <a:off x="1214438" y="4085544"/>
            <a:ext cx="1900059" cy="92333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US"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70" name="Rectangle 2"/>
          <p:cNvSpPr>
            <a:spLocks noChangeArrowheads="1"/>
          </p:cNvSpPr>
          <p:nvPr/>
        </p:nvSpPr>
        <p:spPr bwMode="auto">
          <a:xfrm rot="10800000" flipV="1">
            <a:off x="6260842" y="1868894"/>
            <a:ext cx="5547698" cy="4124206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r>
              <a:rPr b="1" sz="3200" lang="en-IN"/>
              <a:t>Solutions</a:t>
            </a:r>
          </a:p>
          <a:p>
            <a:endParaRPr sz="3200" lang="en-IN"/>
          </a:p>
          <a:p>
            <a:pPr indent="-285750" marL="285750">
              <a:buFont typeface="Arial"/>
              <a:buChar char="•"/>
            </a:pPr>
            <a:r>
              <a:rPr lang="en-IN">
                <a:latin typeface="Arial"/>
                <a:cs typeface="Arial"/>
              </a:rPr>
              <a:t>Use LoRa for long-range, low-power data transfer</a:t>
            </a:r>
            <a:br>
              <a:rPr lang="en-IN">
                <a:latin typeface="Arial"/>
                <a:cs typeface="Arial"/>
              </a:rPr>
            </a:br>
            <a:endParaRPr lang="en-IN">
              <a:latin typeface="Arial"/>
              <a:cs typeface="Arial"/>
            </a:endParaRPr>
          </a:p>
          <a:p>
            <a:pPr indent="-285750" marL="285750">
              <a:buFont typeface="Arial"/>
              <a:buChar char="•"/>
            </a:pPr>
            <a:r>
              <a:rPr lang="en-IN">
                <a:latin typeface="Arial"/>
                <a:cs typeface="Arial"/>
              </a:rPr>
              <a:t>Implement data compression &amp; filtering</a:t>
            </a:r>
            <a:br>
              <a:rPr lang="en-IN">
                <a:latin typeface="Arial"/>
                <a:cs typeface="Arial"/>
              </a:rPr>
            </a:br>
            <a:endParaRPr lang="en-IN">
              <a:latin typeface="Arial"/>
              <a:cs typeface="Arial"/>
            </a:endParaRPr>
          </a:p>
          <a:p>
            <a:pPr indent="-285750" marL="285750">
              <a:buFont typeface="Arial"/>
              <a:buChar char="•"/>
            </a:pPr>
            <a:r>
              <a:rPr lang="en-IN">
                <a:latin typeface="Arial"/>
                <a:cs typeface="Arial"/>
              </a:rPr>
              <a:t>Integrate solar power + low-power design</a:t>
            </a:r>
            <a:br>
              <a:rPr lang="en-IN">
                <a:latin typeface="Arial"/>
                <a:cs typeface="Arial"/>
              </a:rPr>
            </a:br>
            <a:endParaRPr lang="en-IN">
              <a:latin typeface="Arial"/>
              <a:cs typeface="Arial"/>
            </a:endParaRPr>
          </a:p>
          <a:p>
            <a:pPr indent="-285750" marL="285750">
              <a:buFont typeface="Arial"/>
              <a:buChar char="•"/>
            </a:pPr>
            <a:r>
              <a:rPr lang="en-IN">
                <a:latin typeface="Arial"/>
                <a:cs typeface="Arial"/>
              </a:rPr>
              <a:t>Use robust enclosures for outdoor conditions</a:t>
            </a:r>
            <a:br>
              <a:rPr lang="en-IN">
                <a:latin typeface="Arial"/>
                <a:cs typeface="Arial"/>
              </a:rPr>
            </a:br>
            <a:endParaRPr lang="en-IN">
              <a:latin typeface="Arial"/>
              <a:cs typeface="Arial"/>
            </a:endParaRPr>
          </a:p>
          <a:p>
            <a:pPr indent="-285750" marL="285750">
              <a:buFont typeface="Arial"/>
              <a:buChar char="•"/>
            </a:pPr>
            <a:r>
              <a:rPr lang="en-IN">
                <a:latin typeface="Arial"/>
                <a:cs typeface="Arial"/>
              </a:rPr>
              <a:t>Design scalable, modular system for cost efficiency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71" name="Rectangle 1"/>
          <p:cNvSpPr>
            <a:spLocks noChangeArrowheads="1"/>
          </p:cNvSpPr>
          <p:nvPr/>
        </p:nvSpPr>
        <p:spPr bwMode="auto">
          <a:xfrm rot="10800000" flipV="1">
            <a:off x="591294" y="2007393"/>
            <a:ext cx="5046404" cy="3847207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r>
              <a:rPr b="1" sz="3200" lang="en-US"/>
              <a:t>Challenges</a:t>
            </a:r>
          </a:p>
          <a:p>
            <a:endParaRPr sz="3200" lang="en-US"/>
          </a:p>
          <a:p>
            <a:pPr indent="-285750" marL="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Limited communication range</a:t>
            </a:r>
            <a:br>
              <a:rPr lang="en-US">
                <a:latin typeface="Arial"/>
                <a:cs typeface="Arial"/>
              </a:rPr>
            </a:br>
            <a:endParaRPr lang="en-US">
              <a:latin typeface="Arial"/>
              <a:cs typeface="Arial"/>
            </a:endParaRPr>
          </a:p>
          <a:p>
            <a:pPr indent="-285750" marL="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Handling large data volume</a:t>
            </a:r>
            <a:br>
              <a:rPr lang="en-US">
                <a:latin typeface="Arial"/>
                <a:cs typeface="Arial"/>
              </a:rPr>
            </a:br>
            <a:endParaRPr lang="en-US">
              <a:latin typeface="Arial"/>
              <a:cs typeface="Arial"/>
            </a:endParaRPr>
          </a:p>
          <a:p>
            <a:pPr indent="-285750" marL="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Power management in field deployments</a:t>
            </a:r>
            <a:br>
              <a:rPr lang="en-US">
                <a:latin typeface="Arial"/>
                <a:cs typeface="Arial"/>
              </a:rPr>
            </a:br>
            <a:endParaRPr lang="en-US">
              <a:latin typeface="Arial"/>
              <a:cs typeface="Arial"/>
            </a:endParaRPr>
          </a:p>
          <a:p>
            <a:pPr indent="-285750" marL="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Weather durability of sensors &amp; nodes</a:t>
            </a:r>
            <a:br>
              <a:rPr lang="en-US">
                <a:latin typeface="Arial"/>
                <a:cs typeface="Arial"/>
              </a:rPr>
            </a:br>
            <a:endParaRPr lang="en-US">
              <a:latin typeface="Arial"/>
              <a:cs typeface="Arial"/>
            </a:endParaRPr>
          </a:p>
          <a:p>
            <a:pPr indent="-285750" marL="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Maintaining low cost with reliability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 showMasterPhAnim="0">
  <p:cSld name="">
    <p:spTree>
      <p:nvGrpSpPr>
        <p:cNvPr id="73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78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alphaModFix amt="15000"/>
          </a:blip>
          <a:stretch>
            <a:fillRect/>
          </a:stretch>
        </p:blipFill>
        <p:spPr bwMode="auto">
          <a:xfrm>
            <a:off x="3572798" y="1115314"/>
            <a:ext cx="5046404" cy="5046404"/>
          </a:xfrm>
          <a:prstGeom prst="rect"/>
        </p:spPr>
      </p:pic>
      <p:sp>
        <p:nvSpPr>
          <p:cNvPr id="1048675" name="Title 1"/>
          <p:cNvSpPr>
            <a:spLocks noGrp="1"/>
          </p:cNvSpPr>
          <p:nvPr>
            <p:ph type="title"/>
          </p:nvPr>
        </p:nvSpPr>
        <p:spPr bwMode="auto">
          <a:xfrm>
            <a:off x="591294" y="374713"/>
            <a:ext cx="10515600" cy="1325563"/>
          </a:xfrm>
        </p:spPr>
        <p:txBody>
          <a:bodyPr/>
          <a:p>
            <a:r>
              <a:rPr b="1" lang="en-IN"/>
              <a:t>Conclusion </a:t>
            </a:r>
          </a:p>
        </p:txBody>
      </p:sp>
      <p:sp>
        <p:nvSpPr>
          <p:cNvPr id="104867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r>
              <a:rPr b="1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ESP32</a:t>
            </a:r>
            <a:r>
              <a:rPr b="0" cap="none" sz="1800" i="0" lang="en-US" strike="noStrike" u="none">
                <a:ln>
                  <a:noFill/>
                </a:ln>
                <a:solidFill>
                  <a:schemeClr val="tx1"/>
                </a:solidFill>
                <a:latin typeface="Arial"/>
              </a:rPr>
              <a:t> – Wi-Fi + Bluetooth-enabled microcontroller, low power, ideal for IoT.</a:t>
            </a: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77" name="Rectangle 5"/>
          <p:cNvSpPr>
            <a:spLocks noChangeArrowheads="1"/>
          </p:cNvSpPr>
          <p:nvPr/>
        </p:nvSpPr>
        <p:spPr bwMode="auto">
          <a:xfrm rot="10800000">
            <a:off x="1214438" y="4085544"/>
            <a:ext cx="1900059" cy="92333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US"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algn="l" defTabSz="914400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</a:pPr>
            <a:endParaRPr b="0" cap="none" sz="1800" i="0" lang="en-US" strike="noStrike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048678" name="Rectangle 1"/>
          <p:cNvSpPr>
            <a:spLocks noChangeArrowheads="1"/>
          </p:cNvSpPr>
          <p:nvPr/>
        </p:nvSpPr>
        <p:spPr bwMode="auto">
          <a:xfrm rot="10800000" flipV="1">
            <a:off x="591294" y="2074988"/>
            <a:ext cx="8027908" cy="3354765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indent="-342900" marL="342900">
              <a:buFont typeface="Arial"/>
              <a:buChar char="•"/>
            </a:pPr>
            <a:r>
              <a:rPr sz="2000" lang="en-US">
                <a:latin typeface="Arial"/>
                <a:cs typeface="Arial"/>
              </a:rPr>
              <a:t>Portable &amp; scalable solution</a:t>
            </a:r>
            <a:br>
              <a:rPr sz="2000" lang="en-US">
                <a:latin typeface="Arial"/>
                <a:cs typeface="Arial"/>
              </a:rPr>
            </a:br>
            <a:endParaRPr sz="2000" lang="en-US">
              <a:latin typeface="Arial"/>
              <a:cs typeface="Arial"/>
            </a:endParaRPr>
          </a:p>
          <a:p>
            <a:pPr indent="-342900" marL="342900">
              <a:buFont typeface="Arial"/>
              <a:buChar char="•"/>
            </a:pPr>
            <a:r>
              <a:rPr sz="2000" lang="en-US">
                <a:latin typeface="Arial"/>
                <a:cs typeface="Arial"/>
              </a:rPr>
              <a:t>AI-driven localized predictions</a:t>
            </a:r>
            <a:br>
              <a:rPr sz="2000" lang="en-US">
                <a:latin typeface="Arial"/>
                <a:cs typeface="Arial"/>
              </a:rPr>
            </a:br>
            <a:endParaRPr sz="2000" lang="en-US">
              <a:latin typeface="Arial"/>
              <a:cs typeface="Arial"/>
            </a:endParaRPr>
          </a:p>
          <a:p>
            <a:pPr indent="-342900" marL="342900">
              <a:buFont typeface="Arial"/>
              <a:buChar char="•"/>
            </a:pPr>
            <a:r>
              <a:rPr sz="2000" lang="en-US">
                <a:latin typeface="Arial"/>
                <a:cs typeface="Arial"/>
              </a:rPr>
              <a:t>Works without internet dependency</a:t>
            </a:r>
            <a:br>
              <a:rPr sz="2000" lang="en-US">
                <a:latin typeface="Arial"/>
                <a:cs typeface="Arial"/>
              </a:rPr>
            </a:br>
            <a:endParaRPr sz="2000" lang="en-US">
              <a:latin typeface="Arial"/>
              <a:cs typeface="Arial"/>
            </a:endParaRPr>
          </a:p>
          <a:p>
            <a:pPr indent="-342900" marL="342900">
              <a:buFont typeface="Arial"/>
              <a:buChar char="•"/>
            </a:pPr>
            <a:r>
              <a:rPr sz="2000" lang="en-US">
                <a:latin typeface="Arial"/>
                <a:cs typeface="Arial"/>
              </a:rPr>
              <a:t>Supports agriculture &amp; disaster management</a:t>
            </a:r>
            <a:br>
              <a:rPr sz="2000" lang="en-US">
                <a:latin typeface="Arial"/>
                <a:cs typeface="Arial"/>
              </a:rPr>
            </a:br>
            <a:endParaRPr sz="2000" lang="en-US">
              <a:latin typeface="Arial"/>
              <a:cs typeface="Arial"/>
            </a:endParaRPr>
          </a:p>
          <a:p>
            <a:pPr indent="-342900" marL="342900">
              <a:buFont typeface="Arial"/>
              <a:buChar char="•"/>
            </a:pPr>
            <a:r>
              <a:rPr sz="2000" lang="en-US">
                <a:latin typeface="Arial"/>
                <a:cs typeface="Arial"/>
              </a:rPr>
              <a:t>Low-cost, energy-efficient, real-time monitoring</a:t>
            </a:r>
          </a:p>
          <a:p>
            <a:endParaRPr sz="3200" lang="en-US"/>
          </a:p>
        </p:txBody>
      </p:sp>
      <p:grpSp>
        <p:nvGrpSpPr>
          <p:cNvPr id="74" name="Group 4"/>
          <p:cNvGrpSpPr/>
          <p:nvPr/>
        </p:nvGrpSpPr>
        <p:grpSpPr bwMode="auto">
          <a:xfrm>
            <a:off x="6719143" y="1779638"/>
            <a:ext cx="4971412" cy="3192277"/>
            <a:chOff x="4817892" y="1580500"/>
            <a:chExt cx="6835703" cy="4355691"/>
          </a:xfrm>
        </p:grpSpPr>
        <p:grpSp>
          <p:nvGrpSpPr>
            <p:cNvPr id="75" name="Group 5"/>
            <p:cNvGrpSpPr/>
            <p:nvPr/>
          </p:nvGrpSpPr>
          <p:grpSpPr bwMode="auto">
            <a:xfrm>
              <a:off x="4817892" y="1580500"/>
              <a:ext cx="6835703" cy="4355691"/>
              <a:chOff x="5633970" y="803752"/>
              <a:chExt cx="6835703" cy="4355691"/>
            </a:xfrm>
          </p:grpSpPr>
          <p:grpSp>
            <p:nvGrpSpPr>
              <p:cNvPr id="76" name="Group 8"/>
              <p:cNvGrpSpPr/>
              <p:nvPr/>
            </p:nvGrpSpPr>
            <p:grpSpPr bwMode="auto">
              <a:xfrm>
                <a:off x="5633970" y="803752"/>
                <a:ext cx="6835703" cy="4355691"/>
                <a:chOff x="973392" y="1472379"/>
                <a:chExt cx="6087397" cy="4058265"/>
              </a:xfrm>
            </p:grpSpPr>
            <p:pic>
              <p:nvPicPr>
                <p:cNvPr id="2097179" name="Picture 2" descr="Generated image"/>
                <p:cNvPicPr>
                  <a:picLocks noChangeAspect="1" noChangeArrowheads="1"/>
                </p:cNvPicPr>
                <p:nvPr/>
              </p:nvPicPr>
              <p:blipFill>
                <a:blip xmlns:r="http://schemas.openxmlformats.org/officeDocument/2006/relationships" r:embed="rId2"/>
                <a:stretch>
                  <a:fillRect/>
                </a:stretch>
              </p:blipFill>
              <p:spPr bwMode="auto">
                <a:xfrm>
                  <a:off x="973392" y="1472379"/>
                  <a:ext cx="6087397" cy="4058265"/>
                </a:xfrm>
                <a:prstGeom prst="rect"/>
                <a:noFill/>
              </p:spPr>
            </p:pic>
            <p:sp>
              <p:nvSpPr>
                <p:cNvPr id="1048679" name="Cube 14"/>
                <p:cNvSpPr/>
                <p:nvPr/>
              </p:nvSpPr>
              <p:spPr bwMode="auto">
                <a:xfrm>
                  <a:off x="2241755" y="3501511"/>
                  <a:ext cx="570271" cy="510050"/>
                </a:xfrm>
                <a:prstGeom prst="cube">
                  <a:avLst>
                    <a:gd name="adj" fmla="val 25000"/>
                  </a:avLst>
                </a:prstGeom>
              </p:spPr>
              <p:style>
                <a:lnRef idx="3">
                  <a:schemeClr val="lt1"/>
                </a:lnRef>
                <a:fillRef idx="1">
                  <a:schemeClr val="dk1"/>
                </a:fillRef>
                <a:effectRef idx="1">
                  <a:schemeClr val="dk1"/>
                </a:effectRef>
                <a:fontRef idx="minor">
                  <a:schemeClr val="lt1"/>
                </a:fontRef>
              </p:style>
              <p:txBody>
                <a:bodyPr anchor="ctr" rtlCol="0"/>
                <a:p>
                  <a:pPr algn="ctr"/>
                  <a:endParaRPr lang="en-IN">
                    <a:ln w="0"/>
                    <a:gradFill>
                      <a:gsLst>
                        <a:gs pos="21000">
                          <a:srgbClr val="53575C"/>
                        </a:gs>
                        <a:gs pos="88000">
                          <a:srgbClr val="C5C7CA"/>
                        </a:gs>
                      </a:gsLst>
                      <a:lin ang="5400000" scaled="1"/>
                    </a:gradFill>
                  </a:endParaRPr>
                </a:p>
              </p:txBody>
            </p:sp>
          </p:grpSp>
          <p:pic>
            <p:nvPicPr>
              <p:cNvPr id="2097180" name="Graphic 10" descr="Smart Phone with solid fill"/>
              <p:cNvPicPr>
                <a:picLocks noChangeAspect="1"/>
              </p:cNvPicPr>
              <p:nvPr/>
            </p:nvPicPr>
            <p:blipFill>
              <a:blip xmlns:r="http://schemas.openxmlformats.org/officeDocument/2006/relationships" r:embed="rId3"/>
              <a:stretch>
                <a:fillRect/>
              </a:stretch>
            </p:blipFill>
            <p:spPr bwMode="auto">
              <a:xfrm>
                <a:off x="10732029" y="3696928"/>
                <a:ext cx="833215" cy="833215"/>
              </a:xfrm>
              <a:prstGeom prst="rect"/>
            </p:spPr>
          </p:pic>
        </p:grpSp>
        <p:sp>
          <p:nvSpPr>
            <p:cNvPr id="1048680" name="Rectangle: Rounded Corners 6"/>
            <p:cNvSpPr/>
            <p:nvPr/>
          </p:nvSpPr>
          <p:spPr bwMode="auto">
            <a:xfrm>
              <a:off x="5712541" y="4385187"/>
              <a:ext cx="1717936" cy="431864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sz="1400" lang="en-IN"/>
                <a:t>Sensor node </a:t>
              </a:r>
            </a:p>
          </p:txBody>
        </p:sp>
        <p:sp>
          <p:nvSpPr>
            <p:cNvPr id="1048681" name="Rectangle: Rounded Corners 7"/>
            <p:cNvSpPr/>
            <p:nvPr/>
          </p:nvSpPr>
          <p:spPr bwMode="auto">
            <a:xfrm>
              <a:off x="8186538" y="5620514"/>
              <a:ext cx="2562629" cy="315677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sz="1400" lang="en-IN"/>
                <a:t>Receiver Base Station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advClick="1" p14:dur="2000"/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ONLYOFFICE/9.0.4.50</Application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Shivam upadhyay</dc:creator>
  <dcterms:created xsi:type="dcterms:W3CDTF">2025-09-10T03:34:07Z</dcterms:created>
  <dcterms:modified xsi:type="dcterms:W3CDTF">2026-04-08T06:55:24Z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b1323af9d3a342c7a533b55724deae7c</vt:lpwstr>
  </property>
</Properties>
</file>